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0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1666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70203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" name="Shape 1"/>
          <p:cNvSpPr/>
          <p:nvPr/>
        </p:nvSpPr>
        <p:spPr>
          <a:xfrm>
            <a:off x="6858000" y="182880"/>
            <a:ext cx="54864" cy="54864"/>
          </a:xfrm>
          <a:prstGeom prst="ellipse">
            <a:avLst/>
          </a:prstGeom>
          <a:solidFill>
            <a:srgbClr val="00ACC1">
              <a:alpha val="25000"/>
            </a:srgbClr>
          </a:solidFill>
          <a:ln w="12700">
            <a:solidFill>
              <a:srgbClr val="00ACC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" name="Shape 2"/>
          <p:cNvSpPr/>
          <p:nvPr/>
        </p:nvSpPr>
        <p:spPr>
          <a:xfrm>
            <a:off x="7150608" y="182880"/>
            <a:ext cx="54864" cy="54864"/>
          </a:xfrm>
          <a:prstGeom prst="ellipse">
            <a:avLst/>
          </a:prstGeom>
          <a:solidFill>
            <a:srgbClr val="00ACC1">
              <a:alpha val="25000"/>
            </a:srgbClr>
          </a:solidFill>
          <a:ln w="12700">
            <a:solidFill>
              <a:srgbClr val="00ACC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5" name="Shape 3"/>
          <p:cNvSpPr/>
          <p:nvPr/>
        </p:nvSpPr>
        <p:spPr>
          <a:xfrm>
            <a:off x="7443216" y="182880"/>
            <a:ext cx="54864" cy="54864"/>
          </a:xfrm>
          <a:prstGeom prst="ellipse">
            <a:avLst/>
          </a:prstGeom>
          <a:solidFill>
            <a:srgbClr val="00ACC1">
              <a:alpha val="25000"/>
            </a:srgbClr>
          </a:solidFill>
          <a:ln w="12700">
            <a:solidFill>
              <a:srgbClr val="00ACC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6" name="Shape 4"/>
          <p:cNvSpPr/>
          <p:nvPr/>
        </p:nvSpPr>
        <p:spPr>
          <a:xfrm>
            <a:off x="7735824" y="182880"/>
            <a:ext cx="54864" cy="54864"/>
          </a:xfrm>
          <a:prstGeom prst="ellipse">
            <a:avLst/>
          </a:prstGeom>
          <a:solidFill>
            <a:srgbClr val="00ACC1">
              <a:alpha val="25000"/>
            </a:srgbClr>
          </a:solidFill>
          <a:ln w="12700">
            <a:solidFill>
              <a:srgbClr val="00ACC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7" name="Shape 5"/>
          <p:cNvSpPr/>
          <p:nvPr/>
        </p:nvSpPr>
        <p:spPr>
          <a:xfrm>
            <a:off x="8028432" y="182880"/>
            <a:ext cx="54864" cy="54864"/>
          </a:xfrm>
          <a:prstGeom prst="ellipse">
            <a:avLst/>
          </a:prstGeom>
          <a:solidFill>
            <a:srgbClr val="00ACC1">
              <a:alpha val="25000"/>
            </a:srgbClr>
          </a:solidFill>
          <a:ln w="12700">
            <a:solidFill>
              <a:srgbClr val="00ACC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8" name="Shape 6"/>
          <p:cNvSpPr/>
          <p:nvPr/>
        </p:nvSpPr>
        <p:spPr>
          <a:xfrm>
            <a:off x="8321040" y="182880"/>
            <a:ext cx="54864" cy="54864"/>
          </a:xfrm>
          <a:prstGeom prst="ellipse">
            <a:avLst/>
          </a:prstGeom>
          <a:solidFill>
            <a:srgbClr val="00ACC1">
              <a:alpha val="25000"/>
            </a:srgbClr>
          </a:solidFill>
          <a:ln w="12700">
            <a:solidFill>
              <a:srgbClr val="00ACC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9" name="Shape 7"/>
          <p:cNvSpPr/>
          <p:nvPr/>
        </p:nvSpPr>
        <p:spPr>
          <a:xfrm>
            <a:off x="8613648" y="182880"/>
            <a:ext cx="54864" cy="54864"/>
          </a:xfrm>
          <a:prstGeom prst="ellipse">
            <a:avLst/>
          </a:prstGeom>
          <a:solidFill>
            <a:srgbClr val="00ACC1">
              <a:alpha val="25000"/>
            </a:srgbClr>
          </a:solidFill>
          <a:ln w="12700">
            <a:solidFill>
              <a:srgbClr val="00ACC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0" name="Shape 8"/>
          <p:cNvSpPr/>
          <p:nvPr/>
        </p:nvSpPr>
        <p:spPr>
          <a:xfrm>
            <a:off x="8906256" y="182880"/>
            <a:ext cx="54864" cy="54864"/>
          </a:xfrm>
          <a:prstGeom prst="ellipse">
            <a:avLst/>
          </a:prstGeom>
          <a:solidFill>
            <a:srgbClr val="00ACC1">
              <a:alpha val="25000"/>
            </a:srgbClr>
          </a:solidFill>
          <a:ln w="12700">
            <a:solidFill>
              <a:srgbClr val="00ACC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1" name="Shape 9"/>
          <p:cNvSpPr/>
          <p:nvPr/>
        </p:nvSpPr>
        <p:spPr>
          <a:xfrm>
            <a:off x="6858000" y="960120"/>
            <a:ext cx="54864" cy="54864"/>
          </a:xfrm>
          <a:prstGeom prst="ellipse">
            <a:avLst/>
          </a:prstGeom>
          <a:solidFill>
            <a:srgbClr val="00ACC1">
              <a:alpha val="25000"/>
            </a:srgbClr>
          </a:solidFill>
          <a:ln w="12700">
            <a:solidFill>
              <a:srgbClr val="00ACC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2" name="Shape 10"/>
          <p:cNvSpPr/>
          <p:nvPr/>
        </p:nvSpPr>
        <p:spPr>
          <a:xfrm>
            <a:off x="7150608" y="960120"/>
            <a:ext cx="54864" cy="54864"/>
          </a:xfrm>
          <a:prstGeom prst="ellipse">
            <a:avLst/>
          </a:prstGeom>
          <a:solidFill>
            <a:srgbClr val="00ACC1">
              <a:alpha val="25000"/>
            </a:srgbClr>
          </a:solidFill>
          <a:ln w="12700">
            <a:solidFill>
              <a:srgbClr val="00ACC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3" name="Shape 11"/>
          <p:cNvSpPr/>
          <p:nvPr/>
        </p:nvSpPr>
        <p:spPr>
          <a:xfrm>
            <a:off x="7443216" y="960120"/>
            <a:ext cx="54864" cy="54864"/>
          </a:xfrm>
          <a:prstGeom prst="ellipse">
            <a:avLst/>
          </a:prstGeom>
          <a:solidFill>
            <a:srgbClr val="00ACC1">
              <a:alpha val="25000"/>
            </a:srgbClr>
          </a:solidFill>
          <a:ln w="12700">
            <a:solidFill>
              <a:srgbClr val="00ACC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4" name="Shape 12"/>
          <p:cNvSpPr/>
          <p:nvPr/>
        </p:nvSpPr>
        <p:spPr>
          <a:xfrm>
            <a:off x="7735824" y="960120"/>
            <a:ext cx="54864" cy="54864"/>
          </a:xfrm>
          <a:prstGeom prst="ellipse">
            <a:avLst/>
          </a:prstGeom>
          <a:solidFill>
            <a:srgbClr val="00ACC1">
              <a:alpha val="25000"/>
            </a:srgbClr>
          </a:solidFill>
          <a:ln w="12700">
            <a:solidFill>
              <a:srgbClr val="00ACC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5" name="Shape 13"/>
          <p:cNvSpPr/>
          <p:nvPr/>
        </p:nvSpPr>
        <p:spPr>
          <a:xfrm>
            <a:off x="8028432" y="960120"/>
            <a:ext cx="54864" cy="54864"/>
          </a:xfrm>
          <a:prstGeom prst="ellipse">
            <a:avLst/>
          </a:prstGeom>
          <a:solidFill>
            <a:srgbClr val="00ACC1">
              <a:alpha val="25000"/>
            </a:srgbClr>
          </a:solidFill>
          <a:ln w="12700">
            <a:solidFill>
              <a:srgbClr val="00ACC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6" name="Shape 14"/>
          <p:cNvSpPr/>
          <p:nvPr/>
        </p:nvSpPr>
        <p:spPr>
          <a:xfrm>
            <a:off x="8321040" y="960120"/>
            <a:ext cx="54864" cy="54864"/>
          </a:xfrm>
          <a:prstGeom prst="ellipse">
            <a:avLst/>
          </a:prstGeom>
          <a:solidFill>
            <a:srgbClr val="00ACC1">
              <a:alpha val="25000"/>
            </a:srgbClr>
          </a:solidFill>
          <a:ln w="12700">
            <a:solidFill>
              <a:srgbClr val="00ACC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7" name="Shape 15"/>
          <p:cNvSpPr/>
          <p:nvPr/>
        </p:nvSpPr>
        <p:spPr>
          <a:xfrm>
            <a:off x="8613648" y="960120"/>
            <a:ext cx="54864" cy="54864"/>
          </a:xfrm>
          <a:prstGeom prst="ellipse">
            <a:avLst/>
          </a:prstGeom>
          <a:solidFill>
            <a:srgbClr val="00ACC1">
              <a:alpha val="25000"/>
            </a:srgbClr>
          </a:solidFill>
          <a:ln w="12700">
            <a:solidFill>
              <a:srgbClr val="00ACC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8" name="Shape 16"/>
          <p:cNvSpPr/>
          <p:nvPr/>
        </p:nvSpPr>
        <p:spPr>
          <a:xfrm>
            <a:off x="8906256" y="960120"/>
            <a:ext cx="54864" cy="54864"/>
          </a:xfrm>
          <a:prstGeom prst="ellipse">
            <a:avLst/>
          </a:prstGeom>
          <a:solidFill>
            <a:srgbClr val="00ACC1">
              <a:alpha val="25000"/>
            </a:srgbClr>
          </a:solidFill>
          <a:ln w="12700">
            <a:solidFill>
              <a:srgbClr val="00ACC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9" name="Shape 17"/>
          <p:cNvSpPr/>
          <p:nvPr/>
        </p:nvSpPr>
        <p:spPr>
          <a:xfrm>
            <a:off x="6858000" y="1737360"/>
            <a:ext cx="54864" cy="54864"/>
          </a:xfrm>
          <a:prstGeom prst="ellipse">
            <a:avLst/>
          </a:prstGeom>
          <a:solidFill>
            <a:srgbClr val="00ACC1">
              <a:alpha val="25000"/>
            </a:srgbClr>
          </a:solidFill>
          <a:ln w="12700">
            <a:solidFill>
              <a:srgbClr val="00ACC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0" name="Shape 18"/>
          <p:cNvSpPr/>
          <p:nvPr/>
        </p:nvSpPr>
        <p:spPr>
          <a:xfrm>
            <a:off x="7150608" y="1737360"/>
            <a:ext cx="54864" cy="54864"/>
          </a:xfrm>
          <a:prstGeom prst="ellipse">
            <a:avLst/>
          </a:prstGeom>
          <a:solidFill>
            <a:srgbClr val="00ACC1">
              <a:alpha val="25000"/>
            </a:srgbClr>
          </a:solidFill>
          <a:ln w="12700">
            <a:solidFill>
              <a:srgbClr val="00ACC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1" name="Shape 19"/>
          <p:cNvSpPr/>
          <p:nvPr/>
        </p:nvSpPr>
        <p:spPr>
          <a:xfrm>
            <a:off x="7443216" y="1737360"/>
            <a:ext cx="54864" cy="54864"/>
          </a:xfrm>
          <a:prstGeom prst="ellipse">
            <a:avLst/>
          </a:prstGeom>
          <a:solidFill>
            <a:srgbClr val="00ACC1">
              <a:alpha val="25000"/>
            </a:srgbClr>
          </a:solidFill>
          <a:ln w="12700">
            <a:solidFill>
              <a:srgbClr val="00ACC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2" name="Shape 20"/>
          <p:cNvSpPr/>
          <p:nvPr/>
        </p:nvSpPr>
        <p:spPr>
          <a:xfrm>
            <a:off x="7735824" y="1737360"/>
            <a:ext cx="54864" cy="54864"/>
          </a:xfrm>
          <a:prstGeom prst="ellipse">
            <a:avLst/>
          </a:prstGeom>
          <a:solidFill>
            <a:srgbClr val="00ACC1">
              <a:alpha val="25000"/>
            </a:srgbClr>
          </a:solidFill>
          <a:ln w="12700">
            <a:solidFill>
              <a:srgbClr val="00ACC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3" name="Shape 21"/>
          <p:cNvSpPr/>
          <p:nvPr/>
        </p:nvSpPr>
        <p:spPr>
          <a:xfrm>
            <a:off x="8028432" y="1737360"/>
            <a:ext cx="54864" cy="54864"/>
          </a:xfrm>
          <a:prstGeom prst="ellipse">
            <a:avLst/>
          </a:prstGeom>
          <a:solidFill>
            <a:srgbClr val="00ACC1">
              <a:alpha val="25000"/>
            </a:srgbClr>
          </a:solidFill>
          <a:ln w="12700">
            <a:solidFill>
              <a:srgbClr val="00ACC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4" name="Shape 22"/>
          <p:cNvSpPr/>
          <p:nvPr/>
        </p:nvSpPr>
        <p:spPr>
          <a:xfrm>
            <a:off x="8321040" y="1737360"/>
            <a:ext cx="54864" cy="54864"/>
          </a:xfrm>
          <a:prstGeom prst="ellipse">
            <a:avLst/>
          </a:prstGeom>
          <a:solidFill>
            <a:srgbClr val="00ACC1">
              <a:alpha val="25000"/>
            </a:srgbClr>
          </a:solidFill>
          <a:ln w="12700">
            <a:solidFill>
              <a:srgbClr val="00ACC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5" name="Shape 23"/>
          <p:cNvSpPr/>
          <p:nvPr/>
        </p:nvSpPr>
        <p:spPr>
          <a:xfrm>
            <a:off x="8613648" y="1737360"/>
            <a:ext cx="54864" cy="54864"/>
          </a:xfrm>
          <a:prstGeom prst="ellipse">
            <a:avLst/>
          </a:prstGeom>
          <a:solidFill>
            <a:srgbClr val="00ACC1">
              <a:alpha val="25000"/>
            </a:srgbClr>
          </a:solidFill>
          <a:ln w="12700">
            <a:solidFill>
              <a:srgbClr val="00ACC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6" name="Shape 24"/>
          <p:cNvSpPr/>
          <p:nvPr/>
        </p:nvSpPr>
        <p:spPr>
          <a:xfrm>
            <a:off x="8906256" y="1737360"/>
            <a:ext cx="54864" cy="54864"/>
          </a:xfrm>
          <a:prstGeom prst="ellipse">
            <a:avLst/>
          </a:prstGeom>
          <a:solidFill>
            <a:srgbClr val="00ACC1">
              <a:alpha val="25000"/>
            </a:srgbClr>
          </a:solidFill>
          <a:ln w="12700">
            <a:solidFill>
              <a:srgbClr val="00ACC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7" name="Shape 25"/>
          <p:cNvSpPr/>
          <p:nvPr/>
        </p:nvSpPr>
        <p:spPr>
          <a:xfrm>
            <a:off x="6858000" y="2514600"/>
            <a:ext cx="54864" cy="54864"/>
          </a:xfrm>
          <a:prstGeom prst="ellipse">
            <a:avLst/>
          </a:prstGeom>
          <a:solidFill>
            <a:srgbClr val="00ACC1">
              <a:alpha val="25000"/>
            </a:srgbClr>
          </a:solidFill>
          <a:ln w="12700">
            <a:solidFill>
              <a:srgbClr val="00ACC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8" name="Shape 26"/>
          <p:cNvSpPr/>
          <p:nvPr/>
        </p:nvSpPr>
        <p:spPr>
          <a:xfrm>
            <a:off x="7150608" y="2514600"/>
            <a:ext cx="54864" cy="54864"/>
          </a:xfrm>
          <a:prstGeom prst="ellipse">
            <a:avLst/>
          </a:prstGeom>
          <a:solidFill>
            <a:srgbClr val="00ACC1">
              <a:alpha val="25000"/>
            </a:srgbClr>
          </a:solidFill>
          <a:ln w="12700">
            <a:solidFill>
              <a:srgbClr val="00ACC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9" name="Shape 27"/>
          <p:cNvSpPr/>
          <p:nvPr/>
        </p:nvSpPr>
        <p:spPr>
          <a:xfrm>
            <a:off x="7443216" y="2514600"/>
            <a:ext cx="54864" cy="54864"/>
          </a:xfrm>
          <a:prstGeom prst="ellipse">
            <a:avLst/>
          </a:prstGeom>
          <a:solidFill>
            <a:srgbClr val="00ACC1">
              <a:alpha val="25000"/>
            </a:srgbClr>
          </a:solidFill>
          <a:ln w="12700">
            <a:solidFill>
              <a:srgbClr val="00ACC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0" name="Shape 28"/>
          <p:cNvSpPr/>
          <p:nvPr/>
        </p:nvSpPr>
        <p:spPr>
          <a:xfrm>
            <a:off x="7735824" y="2514600"/>
            <a:ext cx="54864" cy="54864"/>
          </a:xfrm>
          <a:prstGeom prst="ellipse">
            <a:avLst/>
          </a:prstGeom>
          <a:solidFill>
            <a:srgbClr val="00ACC1">
              <a:alpha val="25000"/>
            </a:srgbClr>
          </a:solidFill>
          <a:ln w="12700">
            <a:solidFill>
              <a:srgbClr val="00ACC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1" name="Shape 29"/>
          <p:cNvSpPr/>
          <p:nvPr/>
        </p:nvSpPr>
        <p:spPr>
          <a:xfrm>
            <a:off x="8028432" y="2514600"/>
            <a:ext cx="54864" cy="54864"/>
          </a:xfrm>
          <a:prstGeom prst="ellipse">
            <a:avLst/>
          </a:prstGeom>
          <a:solidFill>
            <a:srgbClr val="00ACC1">
              <a:alpha val="25000"/>
            </a:srgbClr>
          </a:solidFill>
          <a:ln w="12700">
            <a:solidFill>
              <a:srgbClr val="00ACC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2" name="Shape 30"/>
          <p:cNvSpPr/>
          <p:nvPr/>
        </p:nvSpPr>
        <p:spPr>
          <a:xfrm>
            <a:off x="8321040" y="2514600"/>
            <a:ext cx="54864" cy="54864"/>
          </a:xfrm>
          <a:prstGeom prst="ellipse">
            <a:avLst/>
          </a:prstGeom>
          <a:solidFill>
            <a:srgbClr val="00ACC1">
              <a:alpha val="25000"/>
            </a:srgbClr>
          </a:solidFill>
          <a:ln w="12700">
            <a:solidFill>
              <a:srgbClr val="00ACC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3" name="Shape 31"/>
          <p:cNvSpPr/>
          <p:nvPr/>
        </p:nvSpPr>
        <p:spPr>
          <a:xfrm>
            <a:off x="8613648" y="2514600"/>
            <a:ext cx="54864" cy="54864"/>
          </a:xfrm>
          <a:prstGeom prst="ellipse">
            <a:avLst/>
          </a:prstGeom>
          <a:solidFill>
            <a:srgbClr val="00ACC1">
              <a:alpha val="25000"/>
            </a:srgbClr>
          </a:solidFill>
          <a:ln w="12700">
            <a:solidFill>
              <a:srgbClr val="00ACC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4" name="Shape 32"/>
          <p:cNvSpPr/>
          <p:nvPr/>
        </p:nvSpPr>
        <p:spPr>
          <a:xfrm>
            <a:off x="8906256" y="2514600"/>
            <a:ext cx="54864" cy="54864"/>
          </a:xfrm>
          <a:prstGeom prst="ellipse">
            <a:avLst/>
          </a:prstGeom>
          <a:solidFill>
            <a:srgbClr val="00ACC1">
              <a:alpha val="25000"/>
            </a:srgbClr>
          </a:solidFill>
          <a:ln w="12700">
            <a:solidFill>
              <a:srgbClr val="00ACC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5" name="Shape 33"/>
          <p:cNvSpPr/>
          <p:nvPr/>
        </p:nvSpPr>
        <p:spPr>
          <a:xfrm>
            <a:off x="6858000" y="3291840"/>
            <a:ext cx="54864" cy="54864"/>
          </a:xfrm>
          <a:prstGeom prst="ellipse">
            <a:avLst/>
          </a:prstGeom>
          <a:solidFill>
            <a:srgbClr val="00ACC1">
              <a:alpha val="25000"/>
            </a:srgbClr>
          </a:solidFill>
          <a:ln w="12700">
            <a:solidFill>
              <a:srgbClr val="00ACC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6" name="Shape 34"/>
          <p:cNvSpPr/>
          <p:nvPr/>
        </p:nvSpPr>
        <p:spPr>
          <a:xfrm>
            <a:off x="7150608" y="3291840"/>
            <a:ext cx="54864" cy="54864"/>
          </a:xfrm>
          <a:prstGeom prst="ellipse">
            <a:avLst/>
          </a:prstGeom>
          <a:solidFill>
            <a:srgbClr val="00ACC1">
              <a:alpha val="25000"/>
            </a:srgbClr>
          </a:solidFill>
          <a:ln w="12700">
            <a:solidFill>
              <a:srgbClr val="00ACC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7" name="Shape 35"/>
          <p:cNvSpPr/>
          <p:nvPr/>
        </p:nvSpPr>
        <p:spPr>
          <a:xfrm>
            <a:off x="7443216" y="3291840"/>
            <a:ext cx="54864" cy="54864"/>
          </a:xfrm>
          <a:prstGeom prst="ellipse">
            <a:avLst/>
          </a:prstGeom>
          <a:solidFill>
            <a:srgbClr val="00ACC1">
              <a:alpha val="25000"/>
            </a:srgbClr>
          </a:solidFill>
          <a:ln w="12700">
            <a:solidFill>
              <a:srgbClr val="00ACC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8" name="Shape 36"/>
          <p:cNvSpPr/>
          <p:nvPr/>
        </p:nvSpPr>
        <p:spPr>
          <a:xfrm>
            <a:off x="7735824" y="3291840"/>
            <a:ext cx="54864" cy="54864"/>
          </a:xfrm>
          <a:prstGeom prst="ellipse">
            <a:avLst/>
          </a:prstGeom>
          <a:solidFill>
            <a:srgbClr val="00ACC1">
              <a:alpha val="25000"/>
            </a:srgbClr>
          </a:solidFill>
          <a:ln w="12700">
            <a:solidFill>
              <a:srgbClr val="00ACC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9" name="Shape 37"/>
          <p:cNvSpPr/>
          <p:nvPr/>
        </p:nvSpPr>
        <p:spPr>
          <a:xfrm>
            <a:off x="8028432" y="3291840"/>
            <a:ext cx="54864" cy="54864"/>
          </a:xfrm>
          <a:prstGeom prst="ellipse">
            <a:avLst/>
          </a:prstGeom>
          <a:solidFill>
            <a:srgbClr val="00ACC1">
              <a:alpha val="25000"/>
            </a:srgbClr>
          </a:solidFill>
          <a:ln w="12700">
            <a:solidFill>
              <a:srgbClr val="00ACC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0" name="Shape 38"/>
          <p:cNvSpPr/>
          <p:nvPr/>
        </p:nvSpPr>
        <p:spPr>
          <a:xfrm>
            <a:off x="8321040" y="3291840"/>
            <a:ext cx="54864" cy="54864"/>
          </a:xfrm>
          <a:prstGeom prst="ellipse">
            <a:avLst/>
          </a:prstGeom>
          <a:solidFill>
            <a:srgbClr val="00ACC1">
              <a:alpha val="25000"/>
            </a:srgbClr>
          </a:solidFill>
          <a:ln w="12700">
            <a:solidFill>
              <a:srgbClr val="00ACC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1" name="Shape 39"/>
          <p:cNvSpPr/>
          <p:nvPr/>
        </p:nvSpPr>
        <p:spPr>
          <a:xfrm>
            <a:off x="8613648" y="3291840"/>
            <a:ext cx="54864" cy="54864"/>
          </a:xfrm>
          <a:prstGeom prst="ellipse">
            <a:avLst/>
          </a:prstGeom>
          <a:solidFill>
            <a:srgbClr val="00ACC1">
              <a:alpha val="25000"/>
            </a:srgbClr>
          </a:solidFill>
          <a:ln w="12700">
            <a:solidFill>
              <a:srgbClr val="00ACC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2" name="Shape 40"/>
          <p:cNvSpPr/>
          <p:nvPr/>
        </p:nvSpPr>
        <p:spPr>
          <a:xfrm>
            <a:off x="8906256" y="3291840"/>
            <a:ext cx="54864" cy="54864"/>
          </a:xfrm>
          <a:prstGeom prst="ellipse">
            <a:avLst/>
          </a:prstGeom>
          <a:solidFill>
            <a:srgbClr val="00ACC1">
              <a:alpha val="25000"/>
            </a:srgbClr>
          </a:solidFill>
          <a:ln w="12700">
            <a:solidFill>
              <a:srgbClr val="00ACC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3" name="Shape 41"/>
          <p:cNvSpPr/>
          <p:nvPr/>
        </p:nvSpPr>
        <p:spPr>
          <a:xfrm>
            <a:off x="6858000" y="4069080"/>
            <a:ext cx="54864" cy="54864"/>
          </a:xfrm>
          <a:prstGeom prst="ellipse">
            <a:avLst/>
          </a:prstGeom>
          <a:solidFill>
            <a:srgbClr val="00ACC1">
              <a:alpha val="25000"/>
            </a:srgbClr>
          </a:solidFill>
          <a:ln w="12700">
            <a:solidFill>
              <a:srgbClr val="00ACC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4" name="Shape 42"/>
          <p:cNvSpPr/>
          <p:nvPr/>
        </p:nvSpPr>
        <p:spPr>
          <a:xfrm>
            <a:off x="7150608" y="4069080"/>
            <a:ext cx="54864" cy="54864"/>
          </a:xfrm>
          <a:prstGeom prst="ellipse">
            <a:avLst/>
          </a:prstGeom>
          <a:solidFill>
            <a:srgbClr val="00ACC1">
              <a:alpha val="25000"/>
            </a:srgbClr>
          </a:solidFill>
          <a:ln w="12700">
            <a:solidFill>
              <a:srgbClr val="00ACC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5" name="Shape 43"/>
          <p:cNvSpPr/>
          <p:nvPr/>
        </p:nvSpPr>
        <p:spPr>
          <a:xfrm>
            <a:off x="7443216" y="4069080"/>
            <a:ext cx="54864" cy="54864"/>
          </a:xfrm>
          <a:prstGeom prst="ellipse">
            <a:avLst/>
          </a:prstGeom>
          <a:solidFill>
            <a:srgbClr val="00ACC1">
              <a:alpha val="25000"/>
            </a:srgbClr>
          </a:solidFill>
          <a:ln w="12700">
            <a:solidFill>
              <a:srgbClr val="00ACC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6" name="Shape 44"/>
          <p:cNvSpPr/>
          <p:nvPr/>
        </p:nvSpPr>
        <p:spPr>
          <a:xfrm>
            <a:off x="7735824" y="4069080"/>
            <a:ext cx="54864" cy="54864"/>
          </a:xfrm>
          <a:prstGeom prst="ellipse">
            <a:avLst/>
          </a:prstGeom>
          <a:solidFill>
            <a:srgbClr val="00ACC1">
              <a:alpha val="25000"/>
            </a:srgbClr>
          </a:solidFill>
          <a:ln w="12700">
            <a:solidFill>
              <a:srgbClr val="00ACC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7" name="Shape 45"/>
          <p:cNvSpPr/>
          <p:nvPr/>
        </p:nvSpPr>
        <p:spPr>
          <a:xfrm>
            <a:off x="8028432" y="4069080"/>
            <a:ext cx="54864" cy="54864"/>
          </a:xfrm>
          <a:prstGeom prst="ellipse">
            <a:avLst/>
          </a:prstGeom>
          <a:solidFill>
            <a:srgbClr val="00ACC1">
              <a:alpha val="25000"/>
            </a:srgbClr>
          </a:solidFill>
          <a:ln w="12700">
            <a:solidFill>
              <a:srgbClr val="00ACC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8" name="Shape 46"/>
          <p:cNvSpPr/>
          <p:nvPr/>
        </p:nvSpPr>
        <p:spPr>
          <a:xfrm>
            <a:off x="8321040" y="4069080"/>
            <a:ext cx="54864" cy="54864"/>
          </a:xfrm>
          <a:prstGeom prst="ellipse">
            <a:avLst/>
          </a:prstGeom>
          <a:solidFill>
            <a:srgbClr val="00ACC1">
              <a:alpha val="25000"/>
            </a:srgbClr>
          </a:solidFill>
          <a:ln w="12700">
            <a:solidFill>
              <a:srgbClr val="00ACC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9" name="Shape 47"/>
          <p:cNvSpPr/>
          <p:nvPr/>
        </p:nvSpPr>
        <p:spPr>
          <a:xfrm>
            <a:off x="8613648" y="4069080"/>
            <a:ext cx="54864" cy="54864"/>
          </a:xfrm>
          <a:prstGeom prst="ellipse">
            <a:avLst/>
          </a:prstGeom>
          <a:solidFill>
            <a:srgbClr val="00ACC1">
              <a:alpha val="25000"/>
            </a:srgbClr>
          </a:solidFill>
          <a:ln w="12700">
            <a:solidFill>
              <a:srgbClr val="00ACC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50" name="Shape 48"/>
          <p:cNvSpPr/>
          <p:nvPr/>
        </p:nvSpPr>
        <p:spPr>
          <a:xfrm>
            <a:off x="8906256" y="4069080"/>
            <a:ext cx="54864" cy="54864"/>
          </a:xfrm>
          <a:prstGeom prst="ellipse">
            <a:avLst/>
          </a:prstGeom>
          <a:solidFill>
            <a:srgbClr val="00ACC1">
              <a:alpha val="25000"/>
            </a:srgbClr>
          </a:solidFill>
          <a:ln w="12700">
            <a:solidFill>
              <a:srgbClr val="00ACC1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51" name="Shape 49"/>
          <p:cNvSpPr/>
          <p:nvPr/>
        </p:nvSpPr>
        <p:spPr>
          <a:xfrm>
            <a:off x="502920" y="548640"/>
            <a:ext cx="2254348" cy="320040"/>
          </a:xfrm>
          <a:prstGeom prst="roundRect">
            <a:avLst>
              <a:gd name="adj" fmla="val 22857"/>
            </a:avLst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52" name="Text 50"/>
          <p:cNvSpPr/>
          <p:nvPr/>
        </p:nvSpPr>
        <p:spPr>
          <a:xfrm>
            <a:off x="502919" y="548640"/>
            <a:ext cx="225434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 err="1">
                <a:solidFill>
                  <a:srgbClr val="FFFFFF"/>
                </a:solidFill>
              </a:rPr>
              <a:t>Projet</a:t>
            </a:r>
            <a:r>
              <a:rPr lang="en-US" sz="900" b="1" dirty="0">
                <a:solidFill>
                  <a:srgbClr val="FFFFFF"/>
                </a:solidFill>
              </a:rPr>
              <a:t> </a:t>
            </a:r>
            <a:r>
              <a:rPr lang="en-US" sz="900" b="1" dirty="0" err="1">
                <a:solidFill>
                  <a:srgbClr val="FFFFFF"/>
                </a:solidFill>
              </a:rPr>
              <a:t>Programmation</a:t>
            </a:r>
            <a:r>
              <a:rPr lang="en-US" sz="900" b="1" dirty="0">
                <a:solidFill>
                  <a:srgbClr val="FFFFFF"/>
                </a:solidFill>
              </a:rPr>
              <a:t> Système et Réseaux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11480" y="1051560"/>
            <a:ext cx="6400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CITY</a:t>
            </a:r>
            <a:endParaRPr lang="en-US" sz="6400" dirty="0"/>
          </a:p>
        </p:txBody>
      </p:sp>
      <p:sp>
        <p:nvSpPr>
          <p:cNvPr id="54" name="Text 52"/>
          <p:cNvSpPr/>
          <p:nvPr/>
        </p:nvSpPr>
        <p:spPr>
          <a:xfrm>
            <a:off x="457200" y="21945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de Signalement en Temps Réel</a:t>
            </a:r>
            <a:endParaRPr lang="en-US" sz="2000" dirty="0"/>
          </a:p>
        </p:txBody>
      </p:sp>
      <p:sp>
        <p:nvSpPr>
          <p:cNvPr id="55" name="Shape 53"/>
          <p:cNvSpPr/>
          <p:nvPr/>
        </p:nvSpPr>
        <p:spPr>
          <a:xfrm>
            <a:off x="457200" y="2788920"/>
            <a:ext cx="4114800" cy="27432"/>
          </a:xfrm>
          <a:prstGeom prst="rect">
            <a:avLst/>
          </a:prstGeom>
          <a:solidFill>
            <a:srgbClr val="607D8B">
              <a:alpha val="60000"/>
            </a:srgbClr>
          </a:solidFill>
          <a:ln w="12700">
            <a:solidFill>
              <a:srgbClr val="607D8B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56" name="Shape 54"/>
          <p:cNvSpPr/>
          <p:nvPr/>
        </p:nvSpPr>
        <p:spPr>
          <a:xfrm>
            <a:off x="457200" y="2926080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1565C0">
              <a:alpha val="70000"/>
            </a:srgbClr>
          </a:solidFill>
          <a:ln w="12700">
            <a:solidFill>
              <a:srgbClr val="00ACC1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57" name="Text 55"/>
          <p:cNvSpPr/>
          <p:nvPr/>
        </p:nvSpPr>
        <p:spPr>
          <a:xfrm>
            <a:off x="457200" y="292608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4FD"/>
                </a:solidFill>
              </a:rPr>
              <a:t>Langage C 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2103120" y="2926080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1565C0">
              <a:alpha val="70000"/>
            </a:srgbClr>
          </a:solidFill>
          <a:ln w="12700">
            <a:solidFill>
              <a:srgbClr val="00ACC1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59" name="Text 57"/>
          <p:cNvSpPr/>
          <p:nvPr/>
        </p:nvSpPr>
        <p:spPr>
          <a:xfrm>
            <a:off x="2103120" y="292608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4FD"/>
                </a:solidFill>
              </a:rPr>
              <a:t>Sockets TCP/IP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3749040" y="2926080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1565C0">
              <a:alpha val="70000"/>
            </a:srgbClr>
          </a:solidFill>
          <a:ln w="12700">
            <a:solidFill>
              <a:srgbClr val="00ACC1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61" name="Text 59"/>
          <p:cNvSpPr/>
          <p:nvPr/>
        </p:nvSpPr>
        <p:spPr>
          <a:xfrm>
            <a:off x="3749040" y="292608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4FD"/>
                </a:solidFill>
              </a:rPr>
              <a:t>pthreads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5394960" y="2926080"/>
            <a:ext cx="1508760" cy="292608"/>
          </a:xfrm>
          <a:prstGeom prst="roundRect">
            <a:avLst>
              <a:gd name="adj" fmla="val 25000"/>
            </a:avLst>
          </a:prstGeom>
          <a:solidFill>
            <a:srgbClr val="1565C0">
              <a:alpha val="70000"/>
            </a:srgbClr>
          </a:solidFill>
          <a:ln w="12700">
            <a:solidFill>
              <a:srgbClr val="00ACC1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63" name="Text 61"/>
          <p:cNvSpPr/>
          <p:nvPr/>
        </p:nvSpPr>
        <p:spPr>
          <a:xfrm>
            <a:off x="5394960" y="2926080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F4FD"/>
                </a:solidFill>
              </a:rPr>
              <a:t>Multi-clients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Client / Serveur  ·  Communication réseau multi-clients avec concurrence avancée</a:t>
            </a:r>
            <a:endParaRPr lang="en-US" sz="1100" dirty="0"/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94DA992D-D690-0ACD-981A-A0D7D7DC5771}"/>
              </a:ext>
            </a:extLst>
          </p:cNvPr>
          <p:cNvSpPr txBox="1"/>
          <p:nvPr/>
        </p:nvSpPr>
        <p:spPr>
          <a:xfrm>
            <a:off x="411480" y="3390638"/>
            <a:ext cx="45755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</a:t>
            </a:r>
            <a:r>
              <a:rPr lang="en-US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Amine </a:t>
            </a:r>
            <a:r>
              <a:rPr lang="en-US" dirty="0" err="1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Jguirim</a:t>
            </a:r>
            <a:endParaRPr lang="en-US" sz="1800" dirty="0"/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A92F5A2D-2A47-14C0-AFB6-EBA8135A7F16}"/>
              </a:ext>
            </a:extLst>
          </p:cNvPr>
          <p:cNvSpPr txBox="1"/>
          <p:nvPr/>
        </p:nvSpPr>
        <p:spPr>
          <a:xfrm>
            <a:off x="411480" y="3617452"/>
            <a:ext cx="45755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Wiem</a:t>
            </a:r>
            <a:r>
              <a:rPr lang="en-US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Omrani</a:t>
            </a:r>
            <a:endParaRPr lang="en-US" dirty="0"/>
          </a:p>
        </p:txBody>
      </p:sp>
      <p:sp>
        <p:nvSpPr>
          <p:cNvPr id="76" name="ZoneTexte 75">
            <a:extLst>
              <a:ext uri="{FF2B5EF4-FFF2-40B4-BE49-F238E27FC236}">
                <a16:creationId xmlns:a16="http://schemas.microsoft.com/office/drawing/2014/main" id="{84155359-739C-334E-4914-E6DEDC78CB3F}"/>
              </a:ext>
            </a:extLst>
          </p:cNvPr>
          <p:cNvSpPr txBox="1"/>
          <p:nvPr/>
        </p:nvSpPr>
        <p:spPr>
          <a:xfrm>
            <a:off x="411480" y="3855630"/>
            <a:ext cx="45755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AbdelHakim Barbaria</a:t>
            </a:r>
            <a:endParaRPr lang="en-US" sz="1800" dirty="0"/>
          </a:p>
        </p:txBody>
      </p:sp>
      <p:sp>
        <p:nvSpPr>
          <p:cNvPr id="80" name="ZoneTexte 79">
            <a:extLst>
              <a:ext uri="{FF2B5EF4-FFF2-40B4-BE49-F238E27FC236}">
                <a16:creationId xmlns:a16="http://schemas.microsoft.com/office/drawing/2014/main" id="{3C03034A-540F-9995-95CA-B2B1E3361B29}"/>
              </a:ext>
            </a:extLst>
          </p:cNvPr>
          <p:cNvSpPr txBox="1"/>
          <p:nvPr/>
        </p:nvSpPr>
        <p:spPr>
          <a:xfrm>
            <a:off x="402336" y="4078224"/>
            <a:ext cx="45755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Fares </a:t>
            </a:r>
            <a:r>
              <a:rPr lang="en-US" sz="1800" dirty="0" err="1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Tekaya</a:t>
            </a:r>
            <a:endParaRPr lang="en-US" sz="1800" dirty="0"/>
          </a:p>
        </p:txBody>
      </p:sp>
      <p:sp>
        <p:nvSpPr>
          <p:cNvPr id="66" name="ZoneTexte 65">
            <a:extLst>
              <a:ext uri="{FF2B5EF4-FFF2-40B4-BE49-F238E27FC236}">
                <a16:creationId xmlns:a16="http://schemas.microsoft.com/office/drawing/2014/main" id="{2F0AC4DE-886D-D917-B0E5-9BD48608AC51}"/>
              </a:ext>
            </a:extLst>
          </p:cNvPr>
          <p:cNvSpPr txBox="1"/>
          <p:nvPr/>
        </p:nvSpPr>
        <p:spPr>
          <a:xfrm>
            <a:off x="2757268" y="4225528"/>
            <a:ext cx="45755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 C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INTRODUCTION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685800"/>
            <a:ext cx="4023360" cy="4023360"/>
          </a:xfrm>
          <a:prstGeom prst="rect">
            <a:avLst/>
          </a:prstGeom>
          <a:solidFill>
            <a:srgbClr val="E8F4FD"/>
          </a:solidFill>
          <a:ln w="19050">
            <a:solidFill>
              <a:srgbClr val="00ACC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5" name="Shape 3"/>
          <p:cNvSpPr/>
          <p:nvPr/>
        </p:nvSpPr>
        <p:spPr>
          <a:xfrm>
            <a:off x="320040" y="685800"/>
            <a:ext cx="4023360" cy="411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6" name="Text 4"/>
          <p:cNvSpPr/>
          <p:nvPr/>
        </p:nvSpPr>
        <p:spPr>
          <a:xfrm>
            <a:off x="411480" y="6858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Le Problème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villes modernes manquent de systèmes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centralisés pour signaler et gérer les incidents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urbains en temps réel.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1783080" cy="640080"/>
          </a:xfrm>
          <a:prstGeom prst="roundRect">
            <a:avLst>
              <a:gd name="adj" fmla="val 14286"/>
            </a:avLst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9" name="Text 7"/>
          <p:cNvSpPr/>
          <p:nvPr/>
        </p:nvSpPr>
        <p:spPr>
          <a:xfrm>
            <a:off x="457200" y="214884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Accidents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377440" y="2148840"/>
            <a:ext cx="1783080" cy="640080"/>
          </a:xfrm>
          <a:prstGeom prst="roundRect">
            <a:avLst>
              <a:gd name="adj" fmla="val 14286"/>
            </a:avLst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1" name="Text 9"/>
          <p:cNvSpPr/>
          <p:nvPr/>
        </p:nvSpPr>
        <p:spPr>
          <a:xfrm>
            <a:off x="2377440" y="214884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Incendies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1783080" cy="640080"/>
          </a:xfrm>
          <a:prstGeom prst="roundRect">
            <a:avLst>
              <a:gd name="adj" fmla="val 14286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3" name="Text 11"/>
          <p:cNvSpPr/>
          <p:nvPr/>
        </p:nvSpPr>
        <p:spPr>
          <a:xfrm>
            <a:off x="457200" y="29260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 err="1">
                <a:solidFill>
                  <a:srgbClr val="FFFFFF"/>
                </a:solidFill>
              </a:rPr>
              <a:t>Pannes</a:t>
            </a:r>
            <a:r>
              <a:rPr lang="en-US" sz="1200" b="1" dirty="0">
                <a:solidFill>
                  <a:srgbClr val="FFFFFF"/>
                </a:solidFill>
              </a:rPr>
              <a:t> </a:t>
            </a:r>
            <a:r>
              <a:rPr lang="en-US" sz="1200" b="1" dirty="0" err="1">
                <a:solidFill>
                  <a:srgbClr val="FFFFFF"/>
                </a:solidFill>
              </a:rPr>
              <a:t>électriques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377440" y="2926080"/>
            <a:ext cx="1783080" cy="640080"/>
          </a:xfrm>
          <a:prstGeom prst="roundRect">
            <a:avLst>
              <a:gd name="adj" fmla="val 14286"/>
            </a:avLst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5" name="Text 13"/>
          <p:cNvSpPr/>
          <p:nvPr/>
        </p:nvSpPr>
        <p:spPr>
          <a:xfrm>
            <a:off x="2377440" y="292608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Routes bloquées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74904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07D8B"/>
                </a:solidFill>
              </a:rPr>
              <a:t>→ Signalement collaboratif, diffusion instantanée,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607D8B"/>
                </a:solidFill>
              </a:rPr>
              <a:t>   confirmation de prise en charge (ACK).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685800"/>
            <a:ext cx="4114800" cy="4023360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8" name="Shape 16"/>
          <p:cNvSpPr/>
          <p:nvPr/>
        </p:nvSpPr>
        <p:spPr>
          <a:xfrm>
            <a:off x="4709160" y="685800"/>
            <a:ext cx="4114800" cy="41148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9" name="Text 17"/>
          <p:cNvSpPr/>
          <p:nvPr/>
        </p:nvSpPr>
        <p:spPr>
          <a:xfrm>
            <a:off x="4800600" y="6858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Notre Solution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46320" y="1243584"/>
            <a:ext cx="164592" cy="164592"/>
          </a:xfrm>
          <a:prstGeom prst="ellipse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1" name="Text 19"/>
          <p:cNvSpPr/>
          <p:nvPr/>
        </p:nvSpPr>
        <p:spPr>
          <a:xfrm>
            <a:off x="5120640" y="120700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</a:rPr>
              <a:t>Serveur TCP/IP multi-clients (port 8080)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846320" y="1746504"/>
            <a:ext cx="164592" cy="164592"/>
          </a:xfrm>
          <a:prstGeom prst="ellipse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3" name="Text 21"/>
          <p:cNvSpPr/>
          <p:nvPr/>
        </p:nvSpPr>
        <p:spPr>
          <a:xfrm>
            <a:off x="5120640" y="170992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</a:rPr>
              <a:t>Signalement structuré avec horodatage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846320" y="2249424"/>
            <a:ext cx="164592" cy="164592"/>
          </a:xfrm>
          <a:prstGeom prst="ellipse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5" name="Text 23"/>
          <p:cNvSpPr/>
          <p:nvPr/>
        </p:nvSpPr>
        <p:spPr>
          <a:xfrm>
            <a:off x="5120640" y="221284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</a:rPr>
              <a:t>Broadcast instantané à tous les connectés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846320" y="2752344"/>
            <a:ext cx="164592" cy="164592"/>
          </a:xfrm>
          <a:prstGeom prst="ellipse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7" name="Text 25"/>
          <p:cNvSpPr/>
          <p:nvPr/>
        </p:nvSpPr>
        <p:spPr>
          <a:xfrm>
            <a:off x="5120640" y="271576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</a:rPr>
              <a:t>File FIFO admin (max 10 messages)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846320" y="3255264"/>
            <a:ext cx="164592" cy="164592"/>
          </a:xfrm>
          <a:prstGeom prst="ellipse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9" name="Text 27"/>
          <p:cNvSpPr/>
          <p:nvPr/>
        </p:nvSpPr>
        <p:spPr>
          <a:xfrm>
            <a:off x="5120640" y="321868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</a:rPr>
              <a:t>Accusés de réception 4 états (ACK)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846320" y="3758184"/>
            <a:ext cx="164592" cy="164592"/>
          </a:xfrm>
          <a:prstGeom prst="ellipse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1" name="Text 29"/>
          <p:cNvSpPr/>
          <p:nvPr/>
        </p:nvSpPr>
        <p:spPr>
          <a:xfrm>
            <a:off x="5120640" y="372160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</a:rPr>
              <a:t>Historique des 100 derniers incidents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ARCHITECTURE DU SYSTÈME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8600" y="594360"/>
            <a:ext cx="5303520" cy="4343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669280" y="685800"/>
            <a:ext cx="324612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6" name="Shape 3"/>
          <p:cNvSpPr/>
          <p:nvPr/>
        </p:nvSpPr>
        <p:spPr>
          <a:xfrm>
            <a:off x="5669280" y="685800"/>
            <a:ext cx="164592" cy="9144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7" name="Text 4"/>
          <p:cNvSpPr/>
          <p:nvPr/>
        </p:nvSpPr>
        <p:spPr>
          <a:xfrm>
            <a:off x="5943600" y="7315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</a:rPr>
              <a:t>Client (client.c)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43600" y="103327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7D8B"/>
                </a:solidFill>
              </a:rPr>
              <a:t>Menu, thread réception temps réel, sync ACK mutex/cond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669280" y="1737360"/>
            <a:ext cx="324612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ACC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0" name="Shape 7"/>
          <p:cNvSpPr/>
          <p:nvPr/>
        </p:nvSpPr>
        <p:spPr>
          <a:xfrm>
            <a:off x="5669280" y="1737360"/>
            <a:ext cx="164592" cy="91440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1" name="Text 8"/>
          <p:cNvSpPr/>
          <p:nvPr/>
        </p:nvSpPr>
        <p:spPr>
          <a:xfrm>
            <a:off x="5943600" y="17830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CC1"/>
                </a:solidFill>
              </a:rPr>
              <a:t>Serveur (serveur.c)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943600" y="208483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7D8B"/>
                </a:solidFill>
              </a:rPr>
              <a:t>1 thread/client, broadcast, file FIFO, historique 100 incidents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669280" y="2788920"/>
            <a:ext cx="324612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89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4" name="Shape 11"/>
          <p:cNvSpPr/>
          <p:nvPr/>
        </p:nvSpPr>
        <p:spPr>
          <a:xfrm>
            <a:off x="5669280" y="2788920"/>
            <a:ext cx="164592" cy="9144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5" name="Text 12"/>
          <p:cNvSpPr/>
          <p:nvPr/>
        </p:nvSpPr>
        <p:spPr>
          <a:xfrm>
            <a:off x="5943600" y="28346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897B"/>
                </a:solidFill>
              </a:rPr>
              <a:t>Admin (admin.c)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943600" y="313639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7D8B"/>
                </a:solidFill>
              </a:rPr>
              <a:t>Commande LIRE, recevoir_exact(), notification ACK_LU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669280" y="3840480"/>
            <a:ext cx="324612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F57C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18" name="Shape 15"/>
          <p:cNvSpPr/>
          <p:nvPr/>
        </p:nvSpPr>
        <p:spPr>
          <a:xfrm>
            <a:off x="5669280" y="3840480"/>
            <a:ext cx="164592" cy="91440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9" name="Text 16"/>
          <p:cNvSpPr/>
          <p:nvPr/>
        </p:nvSpPr>
        <p:spPr>
          <a:xfrm>
            <a:off x="5943600" y="38862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7C00"/>
                </a:solidFill>
              </a:rPr>
              <a:t>incident.h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943600" y="418795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7D8B"/>
                </a:solidFill>
              </a:rPr>
              <a:t>Structures partagées : Incident, MessageUrgence, tags paquets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FONCTIONNALITÉS &amp; OUTILS UTILISÉS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164592" cy="411480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</a:rPr>
              <a:t>FONCTIONNALITÉS CLÉS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0972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Signalement structuré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3533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07D8B"/>
                </a:solidFill>
              </a:rPr>
              <a:t>Type · localisation · description · </a:t>
            </a:r>
            <a:r>
              <a:rPr lang="en-US" sz="1000" i="1" dirty="0" err="1">
                <a:solidFill>
                  <a:srgbClr val="607D8B"/>
                </a:solidFill>
              </a:rPr>
              <a:t>horodatage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Broadcast instantané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0391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07D8B"/>
                </a:solidFill>
              </a:rPr>
              <a:t>Redistribution à tous les clients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4688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File FIFO producteur/</a:t>
            </a:r>
            <a:r>
              <a:rPr lang="en-US" sz="1200" b="1" dirty="0" err="1">
                <a:solidFill>
                  <a:srgbClr val="0D1B2A"/>
                </a:solidFill>
              </a:rPr>
              <a:t>consommateur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7249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07D8B"/>
                </a:solidFill>
              </a:rPr>
              <a:t>Max 10 msgs · sem_vide / </a:t>
            </a:r>
            <a:r>
              <a:rPr lang="en-US" sz="1000" i="1" dirty="0" err="1">
                <a:solidFill>
                  <a:srgbClr val="607D8B"/>
                </a:solidFill>
              </a:rPr>
              <a:t>sem_plein</a:t>
            </a:r>
            <a:r>
              <a:rPr lang="en-US" sz="1000" i="1" dirty="0">
                <a:solidFill>
                  <a:srgbClr val="607D8B"/>
                </a:solidFill>
              </a:rPr>
              <a:t> 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31546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Protocole ACK 4 états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4107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07D8B"/>
                </a:solidFill>
              </a:rPr>
              <a:t>MSG_ENVOYE · MSG_ATTENTE · MSG_PLEIN · MSG_LU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38404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Historique incidents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40965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07D8B"/>
                </a:solidFill>
              </a:rPr>
              <a:t>100 incidents max, envoyés aux clients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594360"/>
            <a:ext cx="27432" cy="4297680"/>
          </a:xfrm>
          <a:prstGeom prst="rect">
            <a:avLst/>
          </a:prstGeom>
          <a:solidFill>
            <a:srgbClr val="ECEFF1"/>
          </a:solidFill>
          <a:ln w="12700">
            <a:solidFill>
              <a:srgbClr val="ECEFF1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7" name="Shape 15"/>
          <p:cNvSpPr/>
          <p:nvPr/>
        </p:nvSpPr>
        <p:spPr>
          <a:xfrm>
            <a:off x="4800600" y="640080"/>
            <a:ext cx="164592" cy="41148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8" name="Text 16"/>
          <p:cNvSpPr/>
          <p:nvPr/>
        </p:nvSpPr>
        <p:spPr>
          <a:xfrm>
            <a:off x="5074920" y="65836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</a:rPr>
              <a:t>OUTILS &amp; POURQUOI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74920" y="1097280"/>
            <a:ext cx="1325880" cy="256032"/>
          </a:xfrm>
          <a:prstGeom prst="roundRect">
            <a:avLst>
              <a:gd name="adj" fmla="val 17857"/>
            </a:avLst>
          </a:prstGeom>
          <a:solidFill>
            <a:srgbClr val="1565C0">
              <a:alpha val="85000"/>
            </a:srgbClr>
          </a:solidFill>
          <a:ln w="12700">
            <a:solidFill>
              <a:srgbClr val="1565C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0" name="Text 18"/>
          <p:cNvSpPr/>
          <p:nvPr/>
        </p:nvSpPr>
        <p:spPr>
          <a:xfrm>
            <a:off x="5074920" y="10972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Sockets TCP/IP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492240" y="97840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7D8B"/>
                </a:solidFill>
              </a:rPr>
              <a:t>Communication réseau fiable et bidirectionnelle entre processus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74920" y="1783080"/>
            <a:ext cx="1325880" cy="256032"/>
          </a:xfrm>
          <a:prstGeom prst="roundRect">
            <a:avLst>
              <a:gd name="adj" fmla="val 17857"/>
            </a:avLst>
          </a:prstGeom>
          <a:solidFill>
            <a:srgbClr val="1565C0">
              <a:alpha val="85000"/>
            </a:srgbClr>
          </a:solidFill>
          <a:ln w="12700">
            <a:solidFill>
              <a:srgbClr val="1565C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3" name="Text 21"/>
          <p:cNvSpPr/>
          <p:nvPr/>
        </p:nvSpPr>
        <p:spPr>
          <a:xfrm>
            <a:off x="5074920" y="17830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 err="1">
                <a:solidFill>
                  <a:srgbClr val="FFFFFF"/>
                </a:solidFill>
              </a:rPr>
              <a:t>pthreads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492240" y="1659636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7D8B"/>
                </a:solidFill>
              </a:rPr>
              <a:t>Parallélisme : 1 thread/client sans bloquer le serveur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74920" y="2468880"/>
            <a:ext cx="1325880" cy="256032"/>
          </a:xfrm>
          <a:prstGeom prst="roundRect">
            <a:avLst>
              <a:gd name="adj" fmla="val 17857"/>
            </a:avLst>
          </a:prstGeom>
          <a:solidFill>
            <a:srgbClr val="1565C0">
              <a:alpha val="85000"/>
            </a:srgbClr>
          </a:solidFill>
          <a:ln w="12700">
            <a:solidFill>
              <a:srgbClr val="1565C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6" name="Text 24"/>
          <p:cNvSpPr/>
          <p:nvPr/>
        </p:nvSpPr>
        <p:spPr>
          <a:xfrm>
            <a:off x="5074920" y="24688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Mutex pthread_mutex_t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492240" y="2325565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7D8B"/>
                </a:solidFill>
              </a:rPr>
              <a:t>Protection des sections critiques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74920" y="3154680"/>
            <a:ext cx="1325880" cy="256032"/>
          </a:xfrm>
          <a:prstGeom prst="roundRect">
            <a:avLst>
              <a:gd name="adj" fmla="val 17857"/>
            </a:avLst>
          </a:prstGeom>
          <a:solidFill>
            <a:srgbClr val="1565C0">
              <a:alpha val="85000"/>
            </a:srgbClr>
          </a:solidFill>
          <a:ln w="12700">
            <a:solidFill>
              <a:srgbClr val="1565C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9" name="Text 27"/>
          <p:cNvSpPr/>
          <p:nvPr/>
        </p:nvSpPr>
        <p:spPr>
          <a:xfrm>
            <a:off x="5074920" y="31546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 err="1">
                <a:solidFill>
                  <a:srgbClr val="FFFFFF"/>
                </a:solidFill>
              </a:rPr>
              <a:t>Sémaphores</a:t>
            </a:r>
            <a:r>
              <a:rPr lang="en-US" sz="950" b="1" dirty="0">
                <a:solidFill>
                  <a:srgbClr val="FFFFFF"/>
                </a:solidFill>
              </a:rPr>
              <a:t> </a:t>
            </a:r>
            <a:r>
              <a:rPr lang="en-US" sz="950" b="1" dirty="0" err="1">
                <a:solidFill>
                  <a:srgbClr val="FFFFFF"/>
                </a:solidFill>
              </a:rPr>
              <a:t>sem_t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492240" y="3031236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07D8B"/>
                </a:solidFill>
              </a:rPr>
              <a:t>Synchronisation producteur/</a:t>
            </a:r>
            <a:r>
              <a:rPr lang="en-US" sz="1000" dirty="0" err="1">
                <a:solidFill>
                  <a:srgbClr val="607D8B"/>
                </a:solidFill>
              </a:rPr>
              <a:t>consommateur</a:t>
            </a:r>
            <a:r>
              <a:rPr lang="en-US" sz="1000" dirty="0">
                <a:solidFill>
                  <a:srgbClr val="607D8B"/>
                </a:solidFill>
              </a:rPr>
              <a:t> 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>
            <a:extLst>
              <a:ext uri="{FF2B5EF4-FFF2-40B4-BE49-F238E27FC236}">
                <a16:creationId xmlns:a16="http://schemas.microsoft.com/office/drawing/2014/main" id="{8B04D3F0-058C-CB78-1186-0212AA09F5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8" y="146684"/>
            <a:ext cx="3906616" cy="2287027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04BA79B3-6F7B-32E7-D65D-A04CF8675D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9" y="197166"/>
            <a:ext cx="3906615" cy="2269557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408BBB99-498F-8EC5-2E59-8677C22133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589" y="2709790"/>
            <a:ext cx="3906616" cy="2157632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CC0BDEF0-CC4D-8DE8-4336-C75D61867E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1998" y="2609090"/>
            <a:ext cx="3906615" cy="227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6264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3ABFF892-ED8B-57F5-CACB-1FD2FC0127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74" y="436098"/>
            <a:ext cx="4044779" cy="2135652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A3707AE6-8FF5-3554-CCDD-0435AC077B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9263" y="436098"/>
            <a:ext cx="3976688" cy="2072347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A1364739-5359-A50E-8D4A-A8F7970EFD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4592" y="2828119"/>
            <a:ext cx="4232986" cy="2135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098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 12">
            <a:extLst>
              <a:ext uri="{FF2B5EF4-FFF2-40B4-BE49-F238E27FC236}">
                <a16:creationId xmlns:a16="http://schemas.microsoft.com/office/drawing/2014/main" id="{009C2D6F-549B-1FBD-6698-A49E41E5E3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053" y="1437639"/>
            <a:ext cx="4308279" cy="2773681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A5E0F883-B582-33D8-4BC2-A7F7815D35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3251" y="1437639"/>
            <a:ext cx="4270749" cy="2773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23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91440"/>
            <a:ext cx="64008" cy="64008"/>
          </a:xfrm>
          <a:prstGeom prst="ellipse">
            <a:avLst/>
          </a:prstGeom>
          <a:solidFill>
            <a:srgbClr val="00ACC1">
              <a:alpha val="30000"/>
            </a:srgbClr>
          </a:solidFill>
          <a:ln w="12700">
            <a:solidFill>
              <a:srgbClr val="00ACC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" name="Shape 1"/>
          <p:cNvSpPr/>
          <p:nvPr/>
        </p:nvSpPr>
        <p:spPr>
          <a:xfrm>
            <a:off x="7452360" y="91440"/>
            <a:ext cx="64008" cy="64008"/>
          </a:xfrm>
          <a:prstGeom prst="ellipse">
            <a:avLst/>
          </a:prstGeom>
          <a:solidFill>
            <a:srgbClr val="00ACC1">
              <a:alpha val="30000"/>
            </a:srgbClr>
          </a:solidFill>
          <a:ln w="12700">
            <a:solidFill>
              <a:srgbClr val="00ACC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" name="Shape 2"/>
          <p:cNvSpPr/>
          <p:nvPr/>
        </p:nvSpPr>
        <p:spPr>
          <a:xfrm>
            <a:off x="7772400" y="91440"/>
            <a:ext cx="64008" cy="64008"/>
          </a:xfrm>
          <a:prstGeom prst="ellipse">
            <a:avLst/>
          </a:prstGeom>
          <a:solidFill>
            <a:srgbClr val="00ACC1">
              <a:alpha val="30000"/>
            </a:srgbClr>
          </a:solidFill>
          <a:ln w="12700">
            <a:solidFill>
              <a:srgbClr val="00ACC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5" name="Shape 3"/>
          <p:cNvSpPr/>
          <p:nvPr/>
        </p:nvSpPr>
        <p:spPr>
          <a:xfrm>
            <a:off x="8092440" y="91440"/>
            <a:ext cx="64008" cy="64008"/>
          </a:xfrm>
          <a:prstGeom prst="ellipse">
            <a:avLst/>
          </a:prstGeom>
          <a:solidFill>
            <a:srgbClr val="00ACC1">
              <a:alpha val="30000"/>
            </a:srgbClr>
          </a:solidFill>
          <a:ln w="12700">
            <a:solidFill>
              <a:srgbClr val="00ACC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6" name="Shape 4"/>
          <p:cNvSpPr/>
          <p:nvPr/>
        </p:nvSpPr>
        <p:spPr>
          <a:xfrm>
            <a:off x="8412480" y="91440"/>
            <a:ext cx="64008" cy="64008"/>
          </a:xfrm>
          <a:prstGeom prst="ellipse">
            <a:avLst/>
          </a:prstGeom>
          <a:solidFill>
            <a:srgbClr val="00ACC1">
              <a:alpha val="30000"/>
            </a:srgbClr>
          </a:solidFill>
          <a:ln w="12700">
            <a:solidFill>
              <a:srgbClr val="00ACC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7" name="Shape 5"/>
          <p:cNvSpPr/>
          <p:nvPr/>
        </p:nvSpPr>
        <p:spPr>
          <a:xfrm>
            <a:off x="8732520" y="91440"/>
            <a:ext cx="64008" cy="64008"/>
          </a:xfrm>
          <a:prstGeom prst="ellipse">
            <a:avLst/>
          </a:prstGeom>
          <a:solidFill>
            <a:srgbClr val="00ACC1">
              <a:alpha val="30000"/>
            </a:srgbClr>
          </a:solidFill>
          <a:ln w="12700">
            <a:solidFill>
              <a:srgbClr val="00ACC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8" name="Shape 6"/>
          <p:cNvSpPr/>
          <p:nvPr/>
        </p:nvSpPr>
        <p:spPr>
          <a:xfrm>
            <a:off x="7132320" y="804672"/>
            <a:ext cx="64008" cy="64008"/>
          </a:xfrm>
          <a:prstGeom prst="ellipse">
            <a:avLst/>
          </a:prstGeom>
          <a:solidFill>
            <a:srgbClr val="00ACC1">
              <a:alpha val="30000"/>
            </a:srgbClr>
          </a:solidFill>
          <a:ln w="12700">
            <a:solidFill>
              <a:srgbClr val="00ACC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9" name="Shape 7"/>
          <p:cNvSpPr/>
          <p:nvPr/>
        </p:nvSpPr>
        <p:spPr>
          <a:xfrm>
            <a:off x="7452360" y="804672"/>
            <a:ext cx="64008" cy="64008"/>
          </a:xfrm>
          <a:prstGeom prst="ellipse">
            <a:avLst/>
          </a:prstGeom>
          <a:solidFill>
            <a:srgbClr val="00ACC1">
              <a:alpha val="30000"/>
            </a:srgbClr>
          </a:solidFill>
          <a:ln w="12700">
            <a:solidFill>
              <a:srgbClr val="00ACC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0" name="Shape 8"/>
          <p:cNvSpPr/>
          <p:nvPr/>
        </p:nvSpPr>
        <p:spPr>
          <a:xfrm>
            <a:off x="7772400" y="804672"/>
            <a:ext cx="64008" cy="64008"/>
          </a:xfrm>
          <a:prstGeom prst="ellipse">
            <a:avLst/>
          </a:prstGeom>
          <a:solidFill>
            <a:srgbClr val="00ACC1">
              <a:alpha val="30000"/>
            </a:srgbClr>
          </a:solidFill>
          <a:ln w="12700">
            <a:solidFill>
              <a:srgbClr val="00ACC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1" name="Shape 9"/>
          <p:cNvSpPr/>
          <p:nvPr/>
        </p:nvSpPr>
        <p:spPr>
          <a:xfrm>
            <a:off x="8092440" y="804672"/>
            <a:ext cx="64008" cy="64008"/>
          </a:xfrm>
          <a:prstGeom prst="ellipse">
            <a:avLst/>
          </a:prstGeom>
          <a:solidFill>
            <a:srgbClr val="00ACC1">
              <a:alpha val="30000"/>
            </a:srgbClr>
          </a:solidFill>
          <a:ln w="12700">
            <a:solidFill>
              <a:srgbClr val="00ACC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2" name="Shape 10"/>
          <p:cNvSpPr/>
          <p:nvPr/>
        </p:nvSpPr>
        <p:spPr>
          <a:xfrm>
            <a:off x="8412480" y="804672"/>
            <a:ext cx="64008" cy="64008"/>
          </a:xfrm>
          <a:prstGeom prst="ellipse">
            <a:avLst/>
          </a:prstGeom>
          <a:solidFill>
            <a:srgbClr val="00ACC1">
              <a:alpha val="30000"/>
            </a:srgbClr>
          </a:solidFill>
          <a:ln w="12700">
            <a:solidFill>
              <a:srgbClr val="00ACC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3" name="Shape 11"/>
          <p:cNvSpPr/>
          <p:nvPr/>
        </p:nvSpPr>
        <p:spPr>
          <a:xfrm>
            <a:off x="8732520" y="804672"/>
            <a:ext cx="64008" cy="64008"/>
          </a:xfrm>
          <a:prstGeom prst="ellipse">
            <a:avLst/>
          </a:prstGeom>
          <a:solidFill>
            <a:srgbClr val="00ACC1">
              <a:alpha val="30000"/>
            </a:srgbClr>
          </a:solidFill>
          <a:ln w="12700">
            <a:solidFill>
              <a:srgbClr val="00ACC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4" name="Shape 12"/>
          <p:cNvSpPr/>
          <p:nvPr/>
        </p:nvSpPr>
        <p:spPr>
          <a:xfrm>
            <a:off x="7132320" y="1517904"/>
            <a:ext cx="64008" cy="64008"/>
          </a:xfrm>
          <a:prstGeom prst="ellipse">
            <a:avLst/>
          </a:prstGeom>
          <a:solidFill>
            <a:srgbClr val="00ACC1">
              <a:alpha val="30000"/>
            </a:srgbClr>
          </a:solidFill>
          <a:ln w="12700">
            <a:solidFill>
              <a:srgbClr val="00ACC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5" name="Shape 13"/>
          <p:cNvSpPr/>
          <p:nvPr/>
        </p:nvSpPr>
        <p:spPr>
          <a:xfrm>
            <a:off x="7452360" y="1517904"/>
            <a:ext cx="64008" cy="64008"/>
          </a:xfrm>
          <a:prstGeom prst="ellipse">
            <a:avLst/>
          </a:prstGeom>
          <a:solidFill>
            <a:srgbClr val="00ACC1">
              <a:alpha val="30000"/>
            </a:srgbClr>
          </a:solidFill>
          <a:ln w="12700">
            <a:solidFill>
              <a:srgbClr val="00ACC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6" name="Shape 14"/>
          <p:cNvSpPr/>
          <p:nvPr/>
        </p:nvSpPr>
        <p:spPr>
          <a:xfrm>
            <a:off x="7772400" y="1517904"/>
            <a:ext cx="64008" cy="64008"/>
          </a:xfrm>
          <a:prstGeom prst="ellipse">
            <a:avLst/>
          </a:prstGeom>
          <a:solidFill>
            <a:srgbClr val="00ACC1">
              <a:alpha val="30000"/>
            </a:srgbClr>
          </a:solidFill>
          <a:ln w="12700">
            <a:solidFill>
              <a:srgbClr val="00ACC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7" name="Shape 15"/>
          <p:cNvSpPr/>
          <p:nvPr/>
        </p:nvSpPr>
        <p:spPr>
          <a:xfrm>
            <a:off x="8092440" y="1517904"/>
            <a:ext cx="64008" cy="64008"/>
          </a:xfrm>
          <a:prstGeom prst="ellipse">
            <a:avLst/>
          </a:prstGeom>
          <a:solidFill>
            <a:srgbClr val="00ACC1">
              <a:alpha val="30000"/>
            </a:srgbClr>
          </a:solidFill>
          <a:ln w="12700">
            <a:solidFill>
              <a:srgbClr val="00ACC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8" name="Shape 16"/>
          <p:cNvSpPr/>
          <p:nvPr/>
        </p:nvSpPr>
        <p:spPr>
          <a:xfrm>
            <a:off x="8412480" y="1517904"/>
            <a:ext cx="64008" cy="64008"/>
          </a:xfrm>
          <a:prstGeom prst="ellipse">
            <a:avLst/>
          </a:prstGeom>
          <a:solidFill>
            <a:srgbClr val="00ACC1">
              <a:alpha val="30000"/>
            </a:srgbClr>
          </a:solidFill>
          <a:ln w="12700">
            <a:solidFill>
              <a:srgbClr val="00ACC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19" name="Shape 17"/>
          <p:cNvSpPr/>
          <p:nvPr/>
        </p:nvSpPr>
        <p:spPr>
          <a:xfrm>
            <a:off x="8732520" y="1517904"/>
            <a:ext cx="64008" cy="64008"/>
          </a:xfrm>
          <a:prstGeom prst="ellipse">
            <a:avLst/>
          </a:prstGeom>
          <a:solidFill>
            <a:srgbClr val="00ACC1">
              <a:alpha val="30000"/>
            </a:srgbClr>
          </a:solidFill>
          <a:ln w="12700">
            <a:solidFill>
              <a:srgbClr val="00ACC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0" name="Shape 18"/>
          <p:cNvSpPr/>
          <p:nvPr/>
        </p:nvSpPr>
        <p:spPr>
          <a:xfrm>
            <a:off x="7132320" y="2231136"/>
            <a:ext cx="64008" cy="64008"/>
          </a:xfrm>
          <a:prstGeom prst="ellipse">
            <a:avLst/>
          </a:prstGeom>
          <a:solidFill>
            <a:srgbClr val="00ACC1">
              <a:alpha val="30000"/>
            </a:srgbClr>
          </a:solidFill>
          <a:ln w="12700">
            <a:solidFill>
              <a:srgbClr val="00ACC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1" name="Shape 19"/>
          <p:cNvSpPr/>
          <p:nvPr/>
        </p:nvSpPr>
        <p:spPr>
          <a:xfrm>
            <a:off x="7452360" y="2231136"/>
            <a:ext cx="64008" cy="64008"/>
          </a:xfrm>
          <a:prstGeom prst="ellipse">
            <a:avLst/>
          </a:prstGeom>
          <a:solidFill>
            <a:srgbClr val="00ACC1">
              <a:alpha val="30000"/>
            </a:srgbClr>
          </a:solidFill>
          <a:ln w="12700">
            <a:solidFill>
              <a:srgbClr val="00ACC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2" name="Shape 20"/>
          <p:cNvSpPr/>
          <p:nvPr/>
        </p:nvSpPr>
        <p:spPr>
          <a:xfrm>
            <a:off x="7772400" y="2231136"/>
            <a:ext cx="64008" cy="64008"/>
          </a:xfrm>
          <a:prstGeom prst="ellipse">
            <a:avLst/>
          </a:prstGeom>
          <a:solidFill>
            <a:srgbClr val="00ACC1">
              <a:alpha val="30000"/>
            </a:srgbClr>
          </a:solidFill>
          <a:ln w="12700">
            <a:solidFill>
              <a:srgbClr val="00ACC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3" name="Shape 21"/>
          <p:cNvSpPr/>
          <p:nvPr/>
        </p:nvSpPr>
        <p:spPr>
          <a:xfrm>
            <a:off x="8092440" y="2231136"/>
            <a:ext cx="64008" cy="64008"/>
          </a:xfrm>
          <a:prstGeom prst="ellipse">
            <a:avLst/>
          </a:prstGeom>
          <a:solidFill>
            <a:srgbClr val="00ACC1">
              <a:alpha val="30000"/>
            </a:srgbClr>
          </a:solidFill>
          <a:ln w="12700">
            <a:solidFill>
              <a:srgbClr val="00ACC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4" name="Shape 22"/>
          <p:cNvSpPr/>
          <p:nvPr/>
        </p:nvSpPr>
        <p:spPr>
          <a:xfrm>
            <a:off x="8412480" y="2231136"/>
            <a:ext cx="64008" cy="64008"/>
          </a:xfrm>
          <a:prstGeom prst="ellipse">
            <a:avLst/>
          </a:prstGeom>
          <a:solidFill>
            <a:srgbClr val="00ACC1">
              <a:alpha val="30000"/>
            </a:srgbClr>
          </a:solidFill>
          <a:ln w="12700">
            <a:solidFill>
              <a:srgbClr val="00ACC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5" name="Shape 23"/>
          <p:cNvSpPr/>
          <p:nvPr/>
        </p:nvSpPr>
        <p:spPr>
          <a:xfrm>
            <a:off x="8732520" y="2231136"/>
            <a:ext cx="64008" cy="64008"/>
          </a:xfrm>
          <a:prstGeom prst="ellipse">
            <a:avLst/>
          </a:prstGeom>
          <a:solidFill>
            <a:srgbClr val="00ACC1">
              <a:alpha val="30000"/>
            </a:srgbClr>
          </a:solidFill>
          <a:ln w="12700">
            <a:solidFill>
              <a:srgbClr val="00ACC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6" name="Shape 24"/>
          <p:cNvSpPr/>
          <p:nvPr/>
        </p:nvSpPr>
        <p:spPr>
          <a:xfrm>
            <a:off x="7132320" y="2944368"/>
            <a:ext cx="64008" cy="64008"/>
          </a:xfrm>
          <a:prstGeom prst="ellipse">
            <a:avLst/>
          </a:prstGeom>
          <a:solidFill>
            <a:srgbClr val="00ACC1">
              <a:alpha val="30000"/>
            </a:srgbClr>
          </a:solidFill>
          <a:ln w="12700">
            <a:solidFill>
              <a:srgbClr val="00ACC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7" name="Shape 25"/>
          <p:cNvSpPr/>
          <p:nvPr/>
        </p:nvSpPr>
        <p:spPr>
          <a:xfrm>
            <a:off x="7452360" y="2944368"/>
            <a:ext cx="64008" cy="64008"/>
          </a:xfrm>
          <a:prstGeom prst="ellipse">
            <a:avLst/>
          </a:prstGeom>
          <a:solidFill>
            <a:srgbClr val="00ACC1">
              <a:alpha val="30000"/>
            </a:srgbClr>
          </a:solidFill>
          <a:ln w="12700">
            <a:solidFill>
              <a:srgbClr val="00ACC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8" name="Shape 26"/>
          <p:cNvSpPr/>
          <p:nvPr/>
        </p:nvSpPr>
        <p:spPr>
          <a:xfrm>
            <a:off x="7772400" y="2944368"/>
            <a:ext cx="64008" cy="64008"/>
          </a:xfrm>
          <a:prstGeom prst="ellipse">
            <a:avLst/>
          </a:prstGeom>
          <a:solidFill>
            <a:srgbClr val="00ACC1">
              <a:alpha val="30000"/>
            </a:srgbClr>
          </a:solidFill>
          <a:ln w="12700">
            <a:solidFill>
              <a:srgbClr val="00ACC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29" name="Shape 27"/>
          <p:cNvSpPr/>
          <p:nvPr/>
        </p:nvSpPr>
        <p:spPr>
          <a:xfrm>
            <a:off x="8092440" y="2944368"/>
            <a:ext cx="64008" cy="64008"/>
          </a:xfrm>
          <a:prstGeom prst="ellipse">
            <a:avLst/>
          </a:prstGeom>
          <a:solidFill>
            <a:srgbClr val="00ACC1">
              <a:alpha val="30000"/>
            </a:srgbClr>
          </a:solidFill>
          <a:ln w="12700">
            <a:solidFill>
              <a:srgbClr val="00ACC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0" name="Shape 28"/>
          <p:cNvSpPr/>
          <p:nvPr/>
        </p:nvSpPr>
        <p:spPr>
          <a:xfrm>
            <a:off x="8412480" y="2944368"/>
            <a:ext cx="64008" cy="64008"/>
          </a:xfrm>
          <a:prstGeom prst="ellipse">
            <a:avLst/>
          </a:prstGeom>
          <a:solidFill>
            <a:srgbClr val="00ACC1">
              <a:alpha val="30000"/>
            </a:srgbClr>
          </a:solidFill>
          <a:ln w="12700">
            <a:solidFill>
              <a:srgbClr val="00ACC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1" name="Shape 29"/>
          <p:cNvSpPr/>
          <p:nvPr/>
        </p:nvSpPr>
        <p:spPr>
          <a:xfrm>
            <a:off x="8732520" y="2944368"/>
            <a:ext cx="64008" cy="64008"/>
          </a:xfrm>
          <a:prstGeom prst="ellipse">
            <a:avLst/>
          </a:prstGeom>
          <a:solidFill>
            <a:srgbClr val="00ACC1">
              <a:alpha val="30000"/>
            </a:srgbClr>
          </a:solidFill>
          <a:ln w="12700">
            <a:solidFill>
              <a:srgbClr val="00ACC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2" name="Shape 30"/>
          <p:cNvSpPr/>
          <p:nvPr/>
        </p:nvSpPr>
        <p:spPr>
          <a:xfrm>
            <a:off x="7132320" y="3657600"/>
            <a:ext cx="64008" cy="64008"/>
          </a:xfrm>
          <a:prstGeom prst="ellipse">
            <a:avLst/>
          </a:prstGeom>
          <a:solidFill>
            <a:srgbClr val="00ACC1">
              <a:alpha val="30000"/>
            </a:srgbClr>
          </a:solidFill>
          <a:ln w="12700">
            <a:solidFill>
              <a:srgbClr val="00ACC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3" name="Shape 31"/>
          <p:cNvSpPr/>
          <p:nvPr/>
        </p:nvSpPr>
        <p:spPr>
          <a:xfrm>
            <a:off x="7452360" y="3657600"/>
            <a:ext cx="64008" cy="64008"/>
          </a:xfrm>
          <a:prstGeom prst="ellipse">
            <a:avLst/>
          </a:prstGeom>
          <a:solidFill>
            <a:srgbClr val="00ACC1">
              <a:alpha val="30000"/>
            </a:srgbClr>
          </a:solidFill>
          <a:ln w="12700">
            <a:solidFill>
              <a:srgbClr val="00ACC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4" name="Shape 32"/>
          <p:cNvSpPr/>
          <p:nvPr/>
        </p:nvSpPr>
        <p:spPr>
          <a:xfrm>
            <a:off x="7772400" y="3657600"/>
            <a:ext cx="64008" cy="64008"/>
          </a:xfrm>
          <a:prstGeom prst="ellipse">
            <a:avLst/>
          </a:prstGeom>
          <a:solidFill>
            <a:srgbClr val="00ACC1">
              <a:alpha val="30000"/>
            </a:srgbClr>
          </a:solidFill>
          <a:ln w="12700">
            <a:solidFill>
              <a:srgbClr val="00ACC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5" name="Shape 33"/>
          <p:cNvSpPr/>
          <p:nvPr/>
        </p:nvSpPr>
        <p:spPr>
          <a:xfrm>
            <a:off x="8092440" y="3657600"/>
            <a:ext cx="64008" cy="64008"/>
          </a:xfrm>
          <a:prstGeom prst="ellipse">
            <a:avLst/>
          </a:prstGeom>
          <a:solidFill>
            <a:srgbClr val="00ACC1">
              <a:alpha val="30000"/>
            </a:srgbClr>
          </a:solidFill>
          <a:ln w="12700">
            <a:solidFill>
              <a:srgbClr val="00ACC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6" name="Shape 34"/>
          <p:cNvSpPr/>
          <p:nvPr/>
        </p:nvSpPr>
        <p:spPr>
          <a:xfrm>
            <a:off x="8412480" y="3657600"/>
            <a:ext cx="64008" cy="64008"/>
          </a:xfrm>
          <a:prstGeom prst="ellipse">
            <a:avLst/>
          </a:prstGeom>
          <a:solidFill>
            <a:srgbClr val="00ACC1">
              <a:alpha val="30000"/>
            </a:srgbClr>
          </a:solidFill>
          <a:ln w="12700">
            <a:solidFill>
              <a:srgbClr val="00ACC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7" name="Shape 35"/>
          <p:cNvSpPr/>
          <p:nvPr/>
        </p:nvSpPr>
        <p:spPr>
          <a:xfrm>
            <a:off x="8732520" y="3657600"/>
            <a:ext cx="64008" cy="64008"/>
          </a:xfrm>
          <a:prstGeom prst="ellipse">
            <a:avLst/>
          </a:prstGeom>
          <a:solidFill>
            <a:srgbClr val="00ACC1">
              <a:alpha val="30000"/>
            </a:srgbClr>
          </a:solidFill>
          <a:ln w="12700">
            <a:solidFill>
              <a:srgbClr val="00ACC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8" name="Shape 36"/>
          <p:cNvSpPr/>
          <p:nvPr/>
        </p:nvSpPr>
        <p:spPr>
          <a:xfrm>
            <a:off x="7132320" y="4370832"/>
            <a:ext cx="64008" cy="64008"/>
          </a:xfrm>
          <a:prstGeom prst="ellipse">
            <a:avLst/>
          </a:prstGeom>
          <a:solidFill>
            <a:srgbClr val="00ACC1">
              <a:alpha val="30000"/>
            </a:srgbClr>
          </a:solidFill>
          <a:ln w="12700">
            <a:solidFill>
              <a:srgbClr val="00ACC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39" name="Shape 37"/>
          <p:cNvSpPr/>
          <p:nvPr/>
        </p:nvSpPr>
        <p:spPr>
          <a:xfrm>
            <a:off x="7452360" y="4370832"/>
            <a:ext cx="64008" cy="64008"/>
          </a:xfrm>
          <a:prstGeom prst="ellipse">
            <a:avLst/>
          </a:prstGeom>
          <a:solidFill>
            <a:srgbClr val="00ACC1">
              <a:alpha val="30000"/>
            </a:srgbClr>
          </a:solidFill>
          <a:ln w="12700">
            <a:solidFill>
              <a:srgbClr val="00ACC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0" name="Shape 38"/>
          <p:cNvSpPr/>
          <p:nvPr/>
        </p:nvSpPr>
        <p:spPr>
          <a:xfrm>
            <a:off x="7772400" y="4370832"/>
            <a:ext cx="64008" cy="64008"/>
          </a:xfrm>
          <a:prstGeom prst="ellipse">
            <a:avLst/>
          </a:prstGeom>
          <a:solidFill>
            <a:srgbClr val="00ACC1">
              <a:alpha val="30000"/>
            </a:srgbClr>
          </a:solidFill>
          <a:ln w="12700">
            <a:solidFill>
              <a:srgbClr val="00ACC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1" name="Shape 39"/>
          <p:cNvSpPr/>
          <p:nvPr/>
        </p:nvSpPr>
        <p:spPr>
          <a:xfrm>
            <a:off x="8092440" y="4370832"/>
            <a:ext cx="64008" cy="64008"/>
          </a:xfrm>
          <a:prstGeom prst="ellipse">
            <a:avLst/>
          </a:prstGeom>
          <a:solidFill>
            <a:srgbClr val="00ACC1">
              <a:alpha val="30000"/>
            </a:srgbClr>
          </a:solidFill>
          <a:ln w="12700">
            <a:solidFill>
              <a:srgbClr val="00ACC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2" name="Shape 40"/>
          <p:cNvSpPr/>
          <p:nvPr/>
        </p:nvSpPr>
        <p:spPr>
          <a:xfrm>
            <a:off x="8412480" y="4370832"/>
            <a:ext cx="64008" cy="64008"/>
          </a:xfrm>
          <a:prstGeom prst="ellipse">
            <a:avLst/>
          </a:prstGeom>
          <a:solidFill>
            <a:srgbClr val="00ACC1">
              <a:alpha val="30000"/>
            </a:srgbClr>
          </a:solidFill>
          <a:ln w="12700">
            <a:solidFill>
              <a:srgbClr val="00ACC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3" name="Shape 41"/>
          <p:cNvSpPr/>
          <p:nvPr/>
        </p:nvSpPr>
        <p:spPr>
          <a:xfrm>
            <a:off x="8732520" y="4370832"/>
            <a:ext cx="64008" cy="64008"/>
          </a:xfrm>
          <a:prstGeom prst="ellipse">
            <a:avLst/>
          </a:prstGeom>
          <a:solidFill>
            <a:srgbClr val="00ACC1">
              <a:alpha val="30000"/>
            </a:srgbClr>
          </a:solidFill>
          <a:ln w="12700">
            <a:solidFill>
              <a:srgbClr val="00ACC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4" name="Shape 4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5" name="Text 43"/>
          <p:cNvSpPr/>
          <p:nvPr/>
        </p:nvSpPr>
        <p:spPr>
          <a:xfrm>
            <a:off x="411480" y="32004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300" dirty="0">
                <a:solidFill>
                  <a:srgbClr val="00ACC1"/>
                </a:solidFill>
              </a:rPr>
              <a:t>CONCLUSION</a:t>
            </a:r>
            <a:endParaRPr lang="en-US" sz="2800" dirty="0"/>
          </a:p>
        </p:txBody>
      </p:sp>
      <p:sp>
        <p:nvSpPr>
          <p:cNvPr id="46" name="Text 44"/>
          <p:cNvSpPr/>
          <p:nvPr/>
        </p:nvSpPr>
        <p:spPr>
          <a:xfrm>
            <a:off x="411480" y="8229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E8F4FD"/>
                </a:solidFill>
              </a:rPr>
              <a:t>Un système complet, robuste et temps réel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365760" y="1417320"/>
            <a:ext cx="2651760" cy="1920240"/>
          </a:xfrm>
          <a:prstGeom prst="rect">
            <a:avLst/>
          </a:prstGeom>
          <a:solidFill>
            <a:srgbClr val="FFFFFF">
              <a:alpha val="95000"/>
            </a:srgbClr>
          </a:solidFill>
          <a:ln w="25400">
            <a:solidFill>
              <a:srgbClr val="00ACC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48" name="Shape 46"/>
          <p:cNvSpPr/>
          <p:nvPr/>
        </p:nvSpPr>
        <p:spPr>
          <a:xfrm>
            <a:off x="365760" y="1417320"/>
            <a:ext cx="2651760" cy="347472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49" name="Text 47"/>
          <p:cNvSpPr/>
          <p:nvPr/>
        </p:nvSpPr>
        <p:spPr>
          <a:xfrm>
            <a:off x="365760" y="14173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Architecture solide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02920" y="1874520"/>
            <a:ext cx="23774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Client / Serveur / Admin bien séparés,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communication TCP claire et extensible.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3246120" y="1417320"/>
            <a:ext cx="2651760" cy="1920240"/>
          </a:xfrm>
          <a:prstGeom prst="rect">
            <a:avLst/>
          </a:prstGeom>
          <a:solidFill>
            <a:srgbClr val="FFFFFF">
              <a:alpha val="95000"/>
            </a:srgbClr>
          </a:solidFill>
          <a:ln w="254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52" name="Shape 50"/>
          <p:cNvSpPr/>
          <p:nvPr/>
        </p:nvSpPr>
        <p:spPr>
          <a:xfrm>
            <a:off x="3246120" y="1417320"/>
            <a:ext cx="2651760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53" name="Text 51"/>
          <p:cNvSpPr/>
          <p:nvPr/>
        </p:nvSpPr>
        <p:spPr>
          <a:xfrm>
            <a:off x="3246120" y="14173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Concurrence maîtrisée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3383280" y="1874520"/>
            <a:ext cx="23774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5 mutex + 2 </a:t>
            </a:r>
            <a:r>
              <a:rPr lang="en-US" sz="1100" dirty="0" err="1">
                <a:solidFill>
                  <a:srgbClr val="334155"/>
                </a:solidFill>
              </a:rPr>
              <a:t>sémaphores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N clients simultanés.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6126480" y="1417320"/>
            <a:ext cx="2651760" cy="1920240"/>
          </a:xfrm>
          <a:prstGeom prst="rect">
            <a:avLst/>
          </a:prstGeom>
          <a:solidFill>
            <a:srgbClr val="FFFFFF">
              <a:alpha val="95000"/>
            </a:srgbClr>
          </a:solidFill>
          <a:ln w="25400">
            <a:solidFill>
              <a:srgbClr val="0089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TN"/>
          </a:p>
        </p:txBody>
      </p:sp>
      <p:sp>
        <p:nvSpPr>
          <p:cNvPr id="56" name="Shape 54"/>
          <p:cNvSpPr/>
          <p:nvPr/>
        </p:nvSpPr>
        <p:spPr>
          <a:xfrm>
            <a:off x="6126480" y="1417320"/>
            <a:ext cx="2651760" cy="347472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57" name="Text 55"/>
          <p:cNvSpPr/>
          <p:nvPr/>
        </p:nvSpPr>
        <p:spPr>
          <a:xfrm>
            <a:off x="6126480" y="14173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Protocole fiable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263640" y="1874520"/>
            <a:ext cx="23774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Structs de taille fixe, recevoir_exact(),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ACK 4 états — robustesse cross-platform.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320040" y="3703320"/>
            <a:ext cx="8503920" cy="27432"/>
          </a:xfrm>
          <a:prstGeom prst="rect">
            <a:avLst/>
          </a:prstGeom>
          <a:solidFill>
            <a:srgbClr val="607D8B">
              <a:alpha val="50000"/>
            </a:srgbClr>
          </a:solidFill>
          <a:ln w="12700">
            <a:solidFill>
              <a:srgbClr val="607D8B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fr-TN"/>
          </a:p>
        </p:txBody>
      </p:sp>
      <p:sp>
        <p:nvSpPr>
          <p:cNvPr id="60" name="Text 58"/>
          <p:cNvSpPr/>
          <p:nvPr/>
        </p:nvSpPr>
        <p:spPr>
          <a:xfrm>
            <a:off x="36576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07D8B"/>
                </a:solidFill>
              </a:rPr>
              <a:t>serveur.c  ·  client.c  ·  admin.c  ·  incident.h  —  Architecture Client/Serveur en C | Threads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36576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00ACC1"/>
                </a:solidFill>
              </a:rPr>
              <a:t>SmartCity — Système de Signalement en Temps Réel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</TotalTime>
  <Words>397</Words>
  <Application>Microsoft Office PowerPoint</Application>
  <PresentationFormat>Affichage à l'écran (16:9)</PresentationFormat>
  <Paragraphs>79</Paragraphs>
  <Slides>8</Slides>
  <Notes>5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SmartCity — Système de Signalement en Temps Réel</dc:title>
  <dc:subject>PptxGenJS Presentation</dc:subject>
  <dc:creator>PptxGenJS</dc:creator>
  <cp:lastModifiedBy>jguirimmohamedamine</cp:lastModifiedBy>
  <cp:revision>5</cp:revision>
  <dcterms:created xsi:type="dcterms:W3CDTF">2026-05-07T21:31:57Z</dcterms:created>
  <dcterms:modified xsi:type="dcterms:W3CDTF">2026-05-08T09:47:18Z</dcterms:modified>
</cp:coreProperties>
</file>